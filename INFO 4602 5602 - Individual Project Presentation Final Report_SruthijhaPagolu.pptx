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elvetica World" charset="1" panose="020B0500040000020004"/>
      <p:regular r:id="rId19"/>
    </p:embeddedFont>
    <p:embeddedFont>
      <p:font typeface="Helvetica World Bold" charset="1" panose="020B0800040000020004"/>
      <p:regular r:id="rId20"/>
    </p:embeddedFon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  <p:embeddedFont>
      <p:font typeface="Calibri (MS) Bold Italics" charset="1" panose="020F07020304040A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kaggle.com/datasets/osmi/mental-health-in-tech-survey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ublic.tableau.com/app/profile/sruthijha.pagolu3524/viz/MentalHealthDashboard_17635681549190/Dashboard1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683545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8288000" cy="468947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sz="81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INFO 4602/5602</a:t>
              </a:r>
            </a:p>
            <a:p>
              <a:pPr algn="ctr">
                <a:lnSpc>
                  <a:spcPts val="8748"/>
                </a:lnSpc>
              </a:pPr>
              <a:r>
                <a:rPr lang="en-US" sz="81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Information Visualization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77440" y="5382102"/>
            <a:ext cx="13533120" cy="228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Individual Project Presentation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Understanding Mental Health Challenges in the Tech Workplace</a:t>
            </a:r>
          </a:p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</a:pPr>
            <a:r>
              <a:rPr lang="en-US" sz="3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by Sruthijha Pagolu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33377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Table of Contents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1883571"/>
            <a:ext cx="15773400" cy="763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Context &amp; Background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Motivation &amp; Real-World Relevance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Research Questions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Source &amp; Preparation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Visualization Design &amp; Individual Charts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Full Dashboard Presentation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Findings, Insights, and Recommendations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Online Dashboard Link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33377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</a:t>
              </a: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ext &amp; Environment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2045496"/>
            <a:ext cx="15773400" cy="764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275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(Purpose) ?</a:t>
            </a:r>
          </a:p>
          <a:p>
            <a:pPr algn="just">
              <a:lnSpc>
                <a:spcPts val="5500"/>
              </a:lnSpc>
            </a:pPr>
            <a:r>
              <a:rPr lang="en-US" sz="2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understand mental health patterns in the tech industry and identify how treatment, workplace comfort, and mental health interference affect employees.</a:t>
            </a:r>
          </a:p>
          <a:p>
            <a:pPr algn="just">
              <a:lnSpc>
                <a:spcPts val="5500"/>
              </a:lnSpc>
            </a:pPr>
            <a:r>
              <a:rPr lang="en-US" sz="275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Who (Audience and Impact) ?</a:t>
            </a:r>
          </a:p>
          <a:p>
            <a:pPr algn="just">
              <a:lnSpc>
                <a:spcPts val="5500"/>
              </a:lnSpc>
            </a:pPr>
            <a:r>
              <a:rPr lang="en-US" sz="2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Tech employers, HR teams, mental-health advocates, and stakeholders who need insights to improve workplace support and employee wellbeing.</a:t>
            </a:r>
          </a:p>
          <a:p>
            <a:pPr algn="just">
              <a:lnSpc>
                <a:spcPts val="5500"/>
              </a:lnSpc>
            </a:pPr>
            <a:r>
              <a:rPr lang="en-US" sz="275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(Data) ?</a:t>
            </a:r>
          </a:p>
          <a:p>
            <a:pPr algn="just">
              <a:lnSpc>
                <a:spcPts val="5500"/>
              </a:lnSpc>
            </a:pPr>
            <a:r>
              <a:rPr lang="en-US" sz="2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Survey data from tech employees (OSMI dataset), including demographics, treatment status, company factors, comfort levels, and work-interference responses.</a:t>
            </a:r>
          </a:p>
          <a:p>
            <a:pPr algn="just">
              <a:lnSpc>
                <a:spcPts val="5500"/>
              </a:lnSpc>
            </a:pPr>
            <a:r>
              <a:rPr lang="en-US" sz="275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(Method) ?</a:t>
            </a:r>
          </a:p>
          <a:p>
            <a:pPr algn="just">
              <a:lnSpc>
                <a:spcPts val="5500"/>
              </a:lnSpc>
            </a:pPr>
            <a:r>
              <a:rPr lang="en-US" sz="2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cleaning in Python (Jupyter), transformation of variables and visual analysis through Tableau dashboards.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33377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Motiva</a:t>
              </a: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2557463"/>
            <a:ext cx="15773400" cy="568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highlight mental health trends in the tech industry and understand how many employees seek treatment and why.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identify workplace factors such as company size and comfort levels that influence mental health-related behaviors.</a:t>
            </a:r>
          </a:p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provide actionable insights for employers to improve support systems, reduce stigma, and enhance employee wellbeing.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33377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</a:t>
              </a: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ey Research Questions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2571750"/>
            <a:ext cx="15773400" cy="470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00"/>
              </a:lnSpc>
            </a:pPr>
            <a:r>
              <a:rPr lang="en-US" sz="3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RQ1: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ow many employees in the tech industry seek mental health treatment, and how does this vary across groups (age, company size)?</a:t>
            </a:r>
          </a:p>
          <a:p>
            <a:pPr algn="just">
              <a:lnSpc>
                <a:spcPts val="7500"/>
              </a:lnSpc>
            </a:pPr>
            <a:r>
              <a:rPr lang="en-US" sz="3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RQ2: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How often does mental health interfere with employees’ work, and which groups are most affected?</a:t>
            </a:r>
          </a:p>
          <a:p>
            <a:pPr algn="just">
              <a:lnSpc>
                <a:spcPts val="7500"/>
              </a:lnSpc>
            </a:pPr>
            <a:r>
              <a:rPr lang="en-US" sz="3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RQ3: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How comfortable are employees discussing mental health with coworkers and supervisors?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33377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</a:t>
              </a: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 Source &amp; Discussion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2140395"/>
            <a:ext cx="15773400" cy="767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0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2" tooltip="https://www.kaggle.com/datasets/osmi/mental-health-in-tech-survey"/>
              </a:rPr>
              <a:t>OSMI Mental Health in Tech Survey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(public dataset from Kaggle)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735 responses from tech industry employees.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Contains demographics, workplace factors, treatment status, and mental-health perceptions.</a:t>
            </a:r>
          </a:p>
          <a:p>
            <a:pPr algn="just">
              <a:lnSpc>
                <a:spcPts val="6000"/>
              </a:lnSpc>
            </a:pPr>
            <a:r>
              <a:rPr lang="en-US" sz="3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Cleaning &amp; Preparation: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Standardized inconsistent entries (e.g., gender, country, state, company size).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Removed irrelevant or incomplete rows and filtered to U.S. respondents only.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Grouped ages into meaningful decade ranges (20–29, 30–39, etc.).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Simplified categories (Yes/No, Small/Medium/Large companies, etc.).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Handled missing values in work_interfere and comfort fields.</a:t>
            </a:r>
          </a:p>
          <a:p>
            <a:pPr algn="just">
              <a:lnSpc>
                <a:spcPts val="60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Exported the cleaned dataset for Tableau dashboard creation.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33377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Chart 1: 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082657" y="2375964"/>
            <a:ext cx="7948043" cy="5752396"/>
          </a:xfrm>
          <a:custGeom>
            <a:avLst/>
            <a:gdLst/>
            <a:ahLst/>
            <a:cxnLst/>
            <a:rect r="r" b="b" t="t" l="l"/>
            <a:pathLst>
              <a:path h="5752396" w="7948043">
                <a:moveTo>
                  <a:pt x="0" y="0"/>
                </a:moveTo>
                <a:lnTo>
                  <a:pt x="7948043" y="0"/>
                </a:lnTo>
                <a:lnTo>
                  <a:pt x="7948043" y="5752396"/>
                </a:lnTo>
                <a:lnTo>
                  <a:pt x="0" y="5752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2277" y="2568206"/>
            <a:ext cx="7008958" cy="5367911"/>
          </a:xfrm>
          <a:custGeom>
            <a:avLst/>
            <a:gdLst/>
            <a:ahLst/>
            <a:cxnLst/>
            <a:rect r="r" b="b" t="t" l="l"/>
            <a:pathLst>
              <a:path h="5367911" w="7008958">
                <a:moveTo>
                  <a:pt x="0" y="0"/>
                </a:moveTo>
                <a:lnTo>
                  <a:pt x="7008957" y="0"/>
                </a:lnTo>
                <a:lnTo>
                  <a:pt x="7008957" y="5367911"/>
                </a:lnTo>
                <a:lnTo>
                  <a:pt x="0" y="536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33377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Chart 2: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365140" y="2140344"/>
            <a:ext cx="9557720" cy="7376763"/>
          </a:xfrm>
          <a:custGeom>
            <a:avLst/>
            <a:gdLst/>
            <a:ahLst/>
            <a:cxnLst/>
            <a:rect r="r" b="b" t="t" l="l"/>
            <a:pathLst>
              <a:path h="7376763" w="9557720">
                <a:moveTo>
                  <a:pt x="0" y="0"/>
                </a:moveTo>
                <a:lnTo>
                  <a:pt x="9557720" y="0"/>
                </a:lnTo>
                <a:lnTo>
                  <a:pt x="9557720" y="7376763"/>
                </a:lnTo>
                <a:lnTo>
                  <a:pt x="0" y="7376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33377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Chart 3: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44736" y="2167058"/>
            <a:ext cx="10598529" cy="7564700"/>
          </a:xfrm>
          <a:custGeom>
            <a:avLst/>
            <a:gdLst/>
            <a:ahLst/>
            <a:cxnLst/>
            <a:rect r="r" b="b" t="t" l="l"/>
            <a:pathLst>
              <a:path h="7564700" w="10598529">
                <a:moveTo>
                  <a:pt x="0" y="0"/>
                </a:moveTo>
                <a:lnTo>
                  <a:pt x="10598528" y="0"/>
                </a:lnTo>
                <a:lnTo>
                  <a:pt x="10598528" y="7564700"/>
                </a:lnTo>
                <a:lnTo>
                  <a:pt x="0" y="7564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33377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Tableau Dashboard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40794" y="2321721"/>
            <a:ext cx="9206413" cy="7595291"/>
          </a:xfrm>
          <a:custGeom>
            <a:avLst/>
            <a:gdLst/>
            <a:ahLst/>
            <a:cxnLst/>
            <a:rect r="r" b="b" t="t" l="l"/>
            <a:pathLst>
              <a:path h="7595291" w="9206413">
                <a:moveTo>
                  <a:pt x="0" y="0"/>
                </a:moveTo>
                <a:lnTo>
                  <a:pt x="9206412" y="0"/>
                </a:lnTo>
                <a:lnTo>
                  <a:pt x="9206412" y="7595291"/>
                </a:lnTo>
                <a:lnTo>
                  <a:pt x="0" y="759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33377"/>
            <a:ext cx="15773400" cy="2748088"/>
            <a:chOff x="0" y="0"/>
            <a:chExt cx="21031200" cy="3664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3664117"/>
            </a:xfrm>
            <a:custGeom>
              <a:avLst/>
              <a:gdLst/>
              <a:ahLst/>
              <a:cxnLst/>
              <a:rect r="r" b="b" t="t" l="l"/>
              <a:pathLst>
                <a:path h="366411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3664117"/>
                  </a:lnTo>
                  <a:lnTo>
                    <a:pt x="0" y="3664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3587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Answers to Rese</a:t>
              </a: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arch Questions + Recommendations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2786189"/>
            <a:ext cx="16002000" cy="688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RQ1: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55% of tech employees have sought mental-health treatment; highest among ages 30-39.</a:t>
            </a:r>
          </a:p>
          <a:p>
            <a:pPr algn="just">
              <a:lnSpc>
                <a:spcPts val="6000"/>
              </a:lnSpc>
            </a:pPr>
            <a:r>
              <a:rPr lang="en-US" sz="3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RQ2: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Nearly half (48%) report mental health sometimes interferes with productivity.</a:t>
            </a:r>
          </a:p>
          <a:p>
            <a:pPr algn="just">
              <a:lnSpc>
                <a:spcPts val="6000"/>
              </a:lnSpc>
            </a:pPr>
            <a:r>
              <a:rPr lang="en-US" sz="3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RQ3: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Employees are more comfortable with coworkers than supervisors when discussing mental health.</a:t>
            </a:r>
          </a:p>
          <a:p>
            <a:pPr algn="just">
              <a:lnSpc>
                <a:spcPts val="6000"/>
              </a:lnSpc>
            </a:pPr>
            <a:r>
              <a:rPr lang="en-US" sz="3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Recommendations: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Enhance Support: Provide accessible counseling/EAP resources and promote them clearly.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Manager Training: Improve supervisor awareness and communication to reduce stigma.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Strengthen Culture: Normalize mental-health conversations through workshops and peer support.</a:t>
            </a:r>
          </a:p>
          <a:p>
            <a:pPr algn="just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Focus on High-Risk Groups: Prioritize younger employees (20–39) who show higher impact levels.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33377"/>
            <a:ext cx="15773400" cy="9366415"/>
            <a:chOff x="0" y="0"/>
            <a:chExt cx="21031200" cy="124885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2488553"/>
            </a:xfrm>
            <a:custGeom>
              <a:avLst/>
              <a:gdLst/>
              <a:ahLst/>
              <a:cxnLst/>
              <a:rect r="r" b="b" t="t" l="l"/>
              <a:pathLst>
                <a:path h="1248855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488553"/>
                  </a:lnTo>
                  <a:lnTo>
                    <a:pt x="0" y="124885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124123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URL: </a:t>
              </a:r>
              <a:r>
                <a:rPr lang="en-US" b="true" sz="6600">
                  <a:solidFill>
                    <a:srgbClr val="5170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  <a:hlinkClick r:id="rId2" tooltip="https://public.tableau.com/app/profile/sruthijha.pagolu3524/viz/MentalHealthDashboard_17635681549190/Dashboard1"/>
                </a:rPr>
                <a:t>Tableau Dashboard Link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24761" y="2176892"/>
            <a:ext cx="2149447" cy="2581214"/>
          </a:xfrm>
          <a:custGeom>
            <a:avLst/>
            <a:gdLst/>
            <a:ahLst/>
            <a:cxnLst/>
            <a:rect r="r" b="b" t="t" l="l"/>
            <a:pathLst>
              <a:path h="2581214" w="2149447">
                <a:moveTo>
                  <a:pt x="0" y="0"/>
                </a:moveTo>
                <a:lnTo>
                  <a:pt x="2149447" y="0"/>
                </a:lnTo>
                <a:lnTo>
                  <a:pt x="2149447" y="2581214"/>
                </a:lnTo>
                <a:lnTo>
                  <a:pt x="0" y="2581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13792" y="3782057"/>
            <a:ext cx="8060415" cy="266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167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 :) </a:t>
            </a:r>
          </a:p>
          <a:p>
            <a:pPr algn="ctr">
              <a:lnSpc>
                <a:spcPts val="6660"/>
              </a:lnSpc>
            </a:pPr>
          </a:p>
          <a:p>
            <a:pPr algn="ctr">
              <a:lnSpc>
                <a:spcPts val="6660"/>
              </a:lnSpc>
            </a:pPr>
            <a:r>
              <a:rPr lang="en-US" b="true" sz="6167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DAG5HrJNoZ8</dc:identifier>
  <dcterms:modified xsi:type="dcterms:W3CDTF">2011-08-01T06:04:30Z</dcterms:modified>
  <cp:revision>1</cp:revision>
  <dc:title>INFO 4602 5602 - Individual Project Presentation Final Report_SruthijhaPagolu.pptx</dc:title>
</cp:coreProperties>
</file>